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a5f3cd04194bf3" /><Relationship Type="http://schemas.openxmlformats.org/officeDocument/2006/relationships/extended-properties" Target="/docProps/app.xml" Id="R682e66dac8904493" /><Relationship Type="http://schemas.openxmlformats.org/officeDocument/2006/relationships/officeDocument" Target="/ppt/presentation.xml" Id="Rbdced7d2c5cd4c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be9089629b4b98"/>
  </p:sldMasterIdLst>
  <p:notesMasterIdLst>
    <p:notesMasterId xmlns:r="http://schemas.openxmlformats.org/officeDocument/2006/relationships" r:id="R4884a3de4f024deb"/>
  </p:notesMasterIdLst>
  <p:sldIdLst>
    <p:sldId xmlns:r="http://schemas.openxmlformats.org/officeDocument/2006/relationships" id="256" r:id="R2b49d26cdf7046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47b1c16f654fba" /><Relationship Type="http://schemas.openxmlformats.org/officeDocument/2006/relationships/slideMaster" Target="/ppt/slideMasters/slideMaster1.xml" Id="R06be9089629b4b98" /><Relationship Type="http://schemas.openxmlformats.org/officeDocument/2006/relationships/notesMaster" Target="/ppt/notesMasters/notesMaster1.xml" Id="R4884a3de4f024deb" /><Relationship Type="http://schemas.openxmlformats.org/officeDocument/2006/relationships/presProps" Target="/ppt/presProps.xml" Id="R7afcf656d283432a" /><Relationship Type="http://schemas.openxmlformats.org/officeDocument/2006/relationships/tableStyles" Target="/ppt/tableStyles.xml" Id="R26db2eed7103445e" /><Relationship Type="http://schemas.openxmlformats.org/officeDocument/2006/relationships/slide" Target="/ppt/slides/slide1.xml" Id="R2b49d26cdf7046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398d58dd5243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7ad3a9bc04293" /><Relationship Type="http://schemas.openxmlformats.org/officeDocument/2006/relationships/notesMaster" Target="/ppt/notesMasters/notesMaster1.xml" Id="R667a1db24f964d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Content based on the user-provided COMPASS module reference image. No external factual claims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ddd0b87e54b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426f38078c4e11" /><Relationship Type="http://schemas.openxmlformats.org/officeDocument/2006/relationships/slideLayout" Target="/ppt/slideLayouts/slideLayout1.xml" Id="R365e0e944ebf4a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5e0e944ebf4a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fb59169d243cf" /><Relationship Type="http://schemas.openxmlformats.org/officeDocument/2006/relationships/notesSlide" Target="/ppt/notesSlides/notesSlide1.xml" Id="R7f5812f99a054b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8B47DA-BB9C-4F5D-AE54-269313D7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C69"/>
          </a:solidFill>
          <a:ln xmlns:a="http://schemas.openxmlformats.org/drawingml/2006/main" w="0">
            <a:solidFill>
              <a:srgbClr val="082C69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EF32E-ADA3-4F5A-9184-7F9681D8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82C6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2C69"/>
                </a:solidFill>
                <a:latin typeface="Arial"/>
                <a:ea typeface="Arial"/>
                <a:cs typeface="Arial"/>
              </a:rPr>
              <a:t>COMPASS: Integrated Platform for Operations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E7A03-6BEE-4CC1-83AF-83B33C4C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"/>
            <a:ext cx="2143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38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8A43"/>
                </a:solidFill>
                <a:latin typeface="Arial"/>
                <a:ea typeface="Arial"/>
                <a:cs typeface="Arial"/>
              </a:rPr>
              <a:t>GRID-INDIA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61662-0A87-4DB1-AC2F-D99E8FC1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3340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6708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67087"/>
                </a:solidFill>
                <a:latin typeface="Arial"/>
                <a:ea typeface="Arial"/>
                <a:cs typeface="Arial"/>
              </a:rPr>
              <a:t>Operational digital ecosystem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08060-E40A-452E-B29B-6F05020A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4288">
            <a:solidFill>
              <a:srgbClr val="B9D2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37B36-881E-4C56-8847-19140FC4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Purpose  •  Connect operational data, workforce processes, event analysis, controlled documents and reporting in one common platform.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400DE-601E-4F23-A758-53B6AF43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14750"/>
            <a:ext cx="4914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998F3-2E60-4580-B64A-9F42B5C1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28575" cy="3362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22398-6A76-49ED-BA99-0EF33A47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9B5F9-D0AE-4D19-A25E-8C5519D7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956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AFD14-42E3-4E16-9DC8-ABD37083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624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97FB5D-11B7-41AC-968F-63ECCBA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292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2C567-F55F-4902-98B8-7323C5B6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6955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2450F-1739-40D5-9CE1-84DB0948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0290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2FC2C-D012-4ABC-91C7-E18A7299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5362575"/>
            <a:ext cx="2647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D2"/>
          </a:solidFill>
          <a:ln xmlns:a="http://schemas.openxmlformats.org/drawingml/2006/main" w="0">
            <a:solidFill>
              <a:srgbClr val="A9BDD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1E782-46A6-4766-BC3A-483FBAF5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26670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82C69"/>
          </a:solidFill>
          <a:ln xmlns:a="http://schemas.openxmlformats.org/drawingml/2006/main" w="14288">
            <a:solidFill>
              <a:srgbClr val="082C6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A21948-9C18-4FA9-A15C-1749E115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0670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1BD63-65E1-4B33-AE6E-C9898D69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861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3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EE5C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EE5C1"/>
                </a:solidFill>
                <a:latin typeface="Arial"/>
                <a:ea typeface="Arial"/>
                <a:cs typeface="Arial"/>
              </a:rPr>
              <a:t>Common operational 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893FC-2791-489C-9939-76AD757A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57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09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6F0F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6F0FC"/>
                </a:solidFill>
                <a:latin typeface="Arial"/>
                <a:ea typeface="Arial"/>
                <a:cs typeface="Arial"/>
              </a:rPr>
              <a:t>Shared data • role-based workflows</a:t>
            </a:r>
          </a:p>
          <a:p xmlns:a="http://schemas.openxmlformats.org/drawingml/2006/main">
            <a:pPr algn="ctr">
              <a:defRPr sz="975" b="0">
                <a:solidFill>
                  <a:srgbClr val="E6F0F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E6F0FC"/>
                </a:solidFill>
                <a:latin typeface="Arial"/>
                <a:ea typeface="Arial"/>
                <a:cs typeface="Arial"/>
              </a:rPr>
              <a:t>real-time visibility • governed outputs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B22E0F-267C-42C0-92C7-9A6EAC18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2721A-7532-49B4-AFA5-558BCE82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FA5"/>
          </a:solidFill>
          <a:ln xmlns:a="http://schemas.openxmlformats.org/drawingml/2006/main" w="0">
            <a:solidFill>
              <a:srgbClr val="0B5FA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0EA42-3014-40A2-ACB1-67C5F467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Integrated Crew Management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DF08B4-1D92-4D80-9EBB-A32E32E0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Duty roster, leave and training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Approvals, replacement and coverage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84039D-BF9C-4CCC-9E86-B3BED2F4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DE804A-DB2C-415D-8140-BB45FF0C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64"/>
          </a:solidFill>
          <a:ln xmlns:a="http://schemas.openxmlformats.org/drawingml/2006/main" w="0">
            <a:solidFill>
              <a:srgbClr val="147D6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05D584-CB28-4BE0-9795-6541E460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Health Card &amp; RTG Availability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B92E72-80F9-4929-AAE6-6CFDCCF1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Generation and schedule snapshots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Telemetry availability and integrity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15DE68-3DD8-4421-8838-941DF9C1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67E5D5-EC89-4D7B-90FA-ACEFEB10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0">
            <a:solidFill>
              <a:srgbClr val="6A4BC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64FF30-D276-4504-8E53-B1411A31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Validation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0C03E-392D-41BD-A7AE-A71FC5CD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Quality and completeness checks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Exceptions and correction workflow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94D0C0-B053-4D95-83C0-F6F84D8F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27B138-20BD-4FCF-AB21-92FEAE97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35B16"/>
          </a:solidFill>
          <a:ln xmlns:a="http://schemas.openxmlformats.org/drawingml/2006/main" w="0">
            <a:solidFill>
              <a:srgbClr val="C35B16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02887D-F939-4FA7-9910-32E91CC0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Report Generation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CB3460-377C-48B3-8733-AB52CF8D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Standard and custom reports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Export-ready charts and summaries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1ACBD0-5790-43DD-AB4C-1931A58F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671C84-92A3-4BE1-A596-B67A1713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FA5"/>
          </a:solidFill>
          <a:ln xmlns:a="http://schemas.openxmlformats.org/drawingml/2006/main" w="0">
            <a:solidFill>
              <a:srgbClr val="0B5FA5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4F4468-80A0-443A-A632-7E977FB8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669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Frequency Event Analysis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507D9A-13AD-4695-82E5-10008E12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62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Deviation trends and event timeline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Alerts and disturbance review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536924-D2FE-4019-B765-E28BBF0C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147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3FA8E8-6DF9-4946-B175-DD770FF1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480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7D64"/>
          </a:solidFill>
          <a:ln xmlns:a="http://schemas.openxmlformats.org/drawingml/2006/main" w="0">
            <a:solidFill>
              <a:srgbClr val="147D64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9DE9EB-B025-406A-B655-B7B4302C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004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Operational Dashboards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E1D839-BACE-44BA-AA21-A60427EE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957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PSP and national plots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Schedule, generation and deviation views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3BB32A-518C-4878-B1C2-617A527B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4820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FDDEA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AA4ECC-6044-4CD8-B335-5BC6412E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762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A4BC3"/>
          </a:solidFill>
          <a:ln xmlns:a="http://schemas.openxmlformats.org/drawingml/2006/main" w="0">
            <a:solidFill>
              <a:srgbClr val="6A4BC3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079F8E-2AAD-49FE-97EA-E9171DA6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3392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4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Document Repository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9F1EBE-B442-4944-BF61-8AF16A78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29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Meeting records and controlled files</a:t>
            </a:r>
          </a:p>
          <a:p xmlns:a="http://schemas.openxmlformats.org/drawingml/2006/main">
            <a:pPr algn="l">
              <a:defRPr sz="855" b="0">
                <a:solidFill>
                  <a:srgbClr val="52677A"/>
                </a:solidFill>
                <a:latin typeface="Arial"/>
                <a:ea typeface="Arial"/>
                <a:cs typeface="Arial"/>
              </a:defRPr>
            </a:pPr>
            <a:r>
              <a:rPr sz="855" b="0">
                <a:solidFill>
                  <a:srgbClr val="52677A"/>
                </a:solidFill>
                <a:latin typeface="Arial"/>
                <a:ea typeface="Arial"/>
                <a:cs typeface="Arial"/>
              </a:rPr>
              <a:t>Search, retrieval and version tracking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6E1EBD-9F9F-4AFA-8FF0-CB1E3BCF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391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4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82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Outcome: one operational view for faster coordination, consistent decisions and traceable reporting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F7C087-493C-455C-8140-28328011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11391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9447"/>
          </a:solidFill>
          <a:ln xmlns:a="http://schemas.openxmlformats.org/drawingml/2006/main" w="0">
            <a:solidFill>
              <a:srgbClr val="079447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C7B7B6-65D1-4ECF-876F-F56CD35A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508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Outcome: one operational view for faster coordination, consistent decisions and traceable reporting</a:t>
            </a:r>
          </a:p>
        </p:txBody>
      </p:sp>
    </p:spTree>
    <p:extLst>
      <p:ext uri="{BB962C8B-B14F-4D97-AF65-F5344CB8AC3E}">
        <p14:creationId xmlns:p14="http://schemas.microsoft.com/office/powerpoint/2010/main" val="1828712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2026-09-22T11:43:52.4720000Z</dcterms:created>
  <dcterms:modified xsi:type="dcterms:W3CDTF">2026-09-22T11:43:52.4720000Z</dcterms:modified>
</coreProperties>
</file>