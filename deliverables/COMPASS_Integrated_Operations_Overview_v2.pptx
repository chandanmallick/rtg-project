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8151994d7b4ddd" /><Relationship Type="http://schemas.openxmlformats.org/officeDocument/2006/relationships/extended-properties" Target="/docProps/app.xml" Id="Re57e36ff3b5a45d5" /><Relationship Type="http://schemas.openxmlformats.org/officeDocument/2006/relationships/officeDocument" Target="/ppt/presentation.xml" Id="R4807649836d640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a87aff91694817"/>
  </p:sldMasterIdLst>
  <p:notesMasterIdLst>
    <p:notesMasterId xmlns:r="http://schemas.openxmlformats.org/officeDocument/2006/relationships" r:id="Re8140b3bdea9452e"/>
  </p:notesMasterIdLst>
  <p:sldIdLst>
    <p:sldId xmlns:r="http://schemas.openxmlformats.org/officeDocument/2006/relationships" id="256" r:id="Rc192880deed14c4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8ed6caf8aa40d2" /><Relationship Type="http://schemas.openxmlformats.org/officeDocument/2006/relationships/slideMaster" Target="/ppt/slideMasters/slideMaster1.xml" Id="R3ea87aff91694817" /><Relationship Type="http://schemas.openxmlformats.org/officeDocument/2006/relationships/notesMaster" Target="/ppt/notesMasters/notesMaster1.xml" Id="Re8140b3bdea9452e" /><Relationship Type="http://schemas.openxmlformats.org/officeDocument/2006/relationships/presProps" Target="/ppt/presProps.xml" Id="R7f79b07bcb80405b" /><Relationship Type="http://schemas.openxmlformats.org/officeDocument/2006/relationships/tableStyles" Target="/ppt/tableStyles.xml" Id="Rb0b2c8bb83ea42e7" /><Relationship Type="http://schemas.openxmlformats.org/officeDocument/2006/relationships/slide" Target="/ppt/slides/slide1.xml" Id="Rc192880deed14c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ad9222ac7640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5277493e8349d2" /><Relationship Type="http://schemas.openxmlformats.org/officeDocument/2006/relationships/notesMaster" Target="/ppt/notesMasters/notesMaster1.xml" Id="Rf455ebecd2c14c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based on the user-provided COMPASS module reference image. No external factual claims added.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2dcd3967fb4b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c14751f910400d" /><Relationship Type="http://schemas.openxmlformats.org/officeDocument/2006/relationships/slideLayout" Target="/ppt/slideLayouts/slideLayout1.xml" Id="Rd322a5aea3534a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22a5aea3534a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0544bed1db403e" /><Relationship Type="http://schemas.openxmlformats.org/officeDocument/2006/relationships/notesSlide" Target="/ppt/notesSlides/notesSlide1.xml" Id="R0fb0908d46194a6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AC75DA3-0636-42D4-BA62-11FDFF62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C69"/>
          </a:solidFill>
          <a:ln xmlns:a="http://schemas.openxmlformats.org/drawingml/2006/main" w="0">
            <a:solidFill>
              <a:srgbClr val="082C6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86603F-9956-478D-B107-AAA07A35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82C6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82C69"/>
                </a:solidFill>
                <a:latin typeface="Arial"/>
                <a:ea typeface="Arial"/>
                <a:cs typeface="Arial"/>
              </a:rPr>
              <a:t>COMPASS: Integrated Platform for Operations Management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D3BD50-D92D-4623-99FC-17788BF0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765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38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8A43"/>
                </a:solidFill>
                <a:latin typeface="Arial"/>
                <a:ea typeface="Arial"/>
                <a:cs typeface="Arial"/>
              </a:rPr>
              <a:t>GRID-INDIA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DDA89F-6EEE-458D-93BC-F1F1D56F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33400"/>
            <a:ext cx="2143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35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67087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67087"/>
                </a:solidFill>
                <a:latin typeface="Arial"/>
                <a:ea typeface="Arial"/>
                <a:cs typeface="Arial"/>
              </a:rPr>
              <a:t>Operational digital ecosystem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B55A61-27F4-4C3F-8377-D91654D3A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4288">
            <a:solidFill>
              <a:srgbClr val="B9D2E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DFB4C5-46D3-4DD0-A6DF-39BFAF67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876300"/>
            <a:ext cx="19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2EF"/>
          </a:solidFill>
          <a:ln xmlns:a="http://schemas.openxmlformats.org/drawingml/2006/main" w="0">
            <a:solidFill>
              <a:srgbClr val="B9D2E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767820-19EE-4254-9FD4-D5B6F749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876300"/>
            <a:ext cx="19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2EF"/>
          </a:solidFill>
          <a:ln xmlns:a="http://schemas.openxmlformats.org/drawingml/2006/main" w="0">
            <a:solidFill>
              <a:srgbClr val="B9D2E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D8AE7C-E800-41C6-8CA6-E46BDD81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FA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5FA5"/>
                </a:solidFill>
                <a:latin typeface="Arial"/>
                <a:ea typeface="Arial"/>
                <a:cs typeface="Arial"/>
              </a:rPr>
              <a:t>PURPOSE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CF653D-0B90-42AF-AFAD-4513DB22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Common operational workspace</a:t>
            </a:r>
          </a:p>
          <a:p xmlns:a="http://schemas.openxmlformats.org/drawingml/2006/main">
            <a:pPr algn="l">
              <a:defRPr sz="863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Faster coordination and decisions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98A5ED-CCE5-4D00-85C9-4B537F23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838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7D6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7D64"/>
                </a:solidFill>
                <a:latin typeface="Arial"/>
                <a:ea typeface="Arial"/>
                <a:cs typeface="Arial"/>
              </a:rPr>
              <a:t>INPUTS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F4821B-EF16-41E9-98EA-7D36E188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0668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RTG, schedule, generation and frequency data</a:t>
            </a:r>
          </a:p>
          <a:p xmlns:a="http://schemas.openxmlformats.org/drawingml/2006/main">
            <a:pPr algn="l">
              <a:defRPr sz="863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Rosters, requests and controlled documents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820371-585A-4687-89C1-4A10B941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838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A4BC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A4BC3"/>
                </a:solidFill>
                <a:latin typeface="Arial"/>
                <a:ea typeface="Arial"/>
                <a:cs typeface="Arial"/>
              </a:rPr>
              <a:t>OUTCOMES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4F669D-76D8-4428-AD4F-28C4E8C0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0668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Validated information and real-time visibility</a:t>
            </a:r>
          </a:p>
          <a:p xmlns:a="http://schemas.openxmlformats.org/drawingml/2006/main">
            <a:pPr algn="l">
              <a:defRPr sz="863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Traceable workflows and ready reports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82C961-E3C0-4632-B5BF-E01C4F00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714750"/>
            <a:ext cx="4914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DD2"/>
          </a:solidFill>
          <a:ln xmlns:a="http://schemas.openxmlformats.org/drawingml/2006/main" w="0">
            <a:solidFill>
              <a:srgbClr val="A9BDD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218A5D-7BB5-4EAE-8465-3E2E118D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38350"/>
            <a:ext cx="28575" cy="3362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DD2"/>
          </a:solidFill>
          <a:ln xmlns:a="http://schemas.openxmlformats.org/drawingml/2006/main" w="0">
            <a:solidFill>
              <a:srgbClr val="A9BDD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3E970E-0450-4100-8B83-42BC060B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28875"/>
            <a:ext cx="2647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DD2"/>
          </a:solidFill>
          <a:ln xmlns:a="http://schemas.openxmlformats.org/drawingml/2006/main" w="0">
            <a:solidFill>
              <a:srgbClr val="A9BDD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80ED90-595E-4844-AC34-FA66FEE5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95675"/>
            <a:ext cx="2647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DD2"/>
          </a:solidFill>
          <a:ln xmlns:a="http://schemas.openxmlformats.org/drawingml/2006/main" w="0">
            <a:solidFill>
              <a:srgbClr val="A9BDD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5BDCFE-7298-400A-A262-E55CFF0E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62475"/>
            <a:ext cx="2647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DD2"/>
          </a:solidFill>
          <a:ln xmlns:a="http://schemas.openxmlformats.org/drawingml/2006/main" w="0">
            <a:solidFill>
              <a:srgbClr val="A9BDD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7DE94A-FD4F-4A5E-931D-7CBB7982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629275"/>
            <a:ext cx="2647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DD2"/>
          </a:solidFill>
          <a:ln xmlns:a="http://schemas.openxmlformats.org/drawingml/2006/main" w="0">
            <a:solidFill>
              <a:srgbClr val="A9BDD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238230-1305-4B11-BEE9-28B06DB2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695575"/>
            <a:ext cx="2647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DD2"/>
          </a:solidFill>
          <a:ln xmlns:a="http://schemas.openxmlformats.org/drawingml/2006/main" w="0">
            <a:solidFill>
              <a:srgbClr val="A9BDD2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4BB65C-58C9-4FE0-83A6-29529521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029075"/>
            <a:ext cx="2647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DD2"/>
          </a:solidFill>
          <a:ln xmlns:a="http://schemas.openxmlformats.org/drawingml/2006/main" w="0">
            <a:solidFill>
              <a:srgbClr val="A9BDD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BB4109-2879-4441-8B3C-A2057513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5362575"/>
            <a:ext cx="2647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DD2"/>
          </a:solidFill>
          <a:ln xmlns:a="http://schemas.openxmlformats.org/drawingml/2006/main" w="0">
            <a:solidFill>
              <a:srgbClr val="A9BDD2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65268B-89A5-4A34-BDC1-42FE3DA8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26670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082C69"/>
          </a:solidFill>
          <a:ln xmlns:a="http://schemas.openxmlformats.org/drawingml/2006/main" w="14288">
            <a:solidFill>
              <a:srgbClr val="082C69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17F38E-05F4-4B2C-809A-B5CBA5A9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6705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COMPASS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A6A68B-9A72-424A-8521-3CA4B36E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48615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33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EE5C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EE5C1"/>
                </a:solidFill>
                <a:latin typeface="Arial"/>
                <a:ea typeface="Arial"/>
                <a:cs typeface="Arial"/>
              </a:rPr>
              <a:t>Common operational platform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FDB8EB-C35A-4B48-8395-CE8231056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8576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009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E6F0F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E6F0FC"/>
                </a:solidFill>
                <a:latin typeface="Arial"/>
                <a:ea typeface="Arial"/>
                <a:cs typeface="Arial"/>
              </a:rPr>
              <a:t>Shared data • role-based workflows</a:t>
            </a:r>
          </a:p>
          <a:p xmlns:a="http://schemas.openxmlformats.org/drawingml/2006/main">
            <a:pPr algn="ctr">
              <a:defRPr sz="975" b="0">
                <a:solidFill>
                  <a:srgbClr val="E6F0F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E6F0FC"/>
                </a:solidFill>
                <a:latin typeface="Arial"/>
                <a:ea typeface="Arial"/>
                <a:cs typeface="Arial"/>
              </a:rPr>
              <a:t>real-time visibility • governed outputs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0142EB-828B-4347-A1D0-2C3BAA58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3238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FDDE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6F8218-F621-412C-8C5F-B0D309EAA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47850"/>
            <a:ext cx="762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FA5"/>
          </a:solidFill>
          <a:ln xmlns:a="http://schemas.openxmlformats.org/drawingml/2006/main" w="0">
            <a:solidFill>
              <a:srgbClr val="0B5FA5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8A9011-4A5B-4F70-9D59-A8A327DC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0225"/>
            <a:ext cx="2819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4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4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Integrated Crew Management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5244AE-AD3D-4831-A5A7-59CC6353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855" b="0">
                <a:solidFill>
                  <a:srgbClr val="52677A"/>
                </a:solidFill>
                <a:latin typeface="Arial"/>
                <a:ea typeface="Arial"/>
                <a:cs typeface="Arial"/>
              </a:rPr>
              <a:t>Duty roster, leave and training</a:t>
            </a:r>
          </a:p>
          <a:p xmlns:a="http://schemas.openxmlformats.org/drawingml/2006/main">
            <a:pPr algn="l">
              <a:defRPr sz="855" b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855" b="0">
                <a:solidFill>
                  <a:srgbClr val="52677A"/>
                </a:solidFill>
                <a:latin typeface="Arial"/>
                <a:ea typeface="Arial"/>
                <a:cs typeface="Arial"/>
              </a:rPr>
              <a:t>Approvals, replacement and coverage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4326B3-B371-4D6E-A2C0-F53A0BA4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3238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FDDE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B8A510-EF9D-40F9-BC0B-E089F1DA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762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D64"/>
          </a:solidFill>
          <a:ln xmlns:a="http://schemas.openxmlformats.org/drawingml/2006/main" w="0">
            <a:solidFill>
              <a:srgbClr val="147D64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1CC828-3FD1-4578-934B-A5CED7DB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7025"/>
            <a:ext cx="2819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4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4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Health Card &amp; RTG Availability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A192B0-7888-4A63-92C1-BCFAD564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855" b="0">
                <a:solidFill>
                  <a:srgbClr val="52677A"/>
                </a:solidFill>
                <a:latin typeface="Arial"/>
                <a:ea typeface="Arial"/>
                <a:cs typeface="Arial"/>
              </a:rPr>
              <a:t>Generation and schedule snapshots</a:t>
            </a:r>
          </a:p>
          <a:p xmlns:a="http://schemas.openxmlformats.org/drawingml/2006/main">
            <a:pPr algn="l">
              <a:defRPr sz="855" b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855" b="0">
                <a:solidFill>
                  <a:srgbClr val="52677A"/>
                </a:solidFill>
                <a:latin typeface="Arial"/>
                <a:ea typeface="Arial"/>
                <a:cs typeface="Arial"/>
              </a:rPr>
              <a:t>Telemetry availability and integrity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66E3E7-C86C-495A-861B-BF72627D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48100"/>
            <a:ext cx="3238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FDDEA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2EA0E0-0B6A-4828-9D3D-772BA8352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81450"/>
            <a:ext cx="762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A4BC3"/>
          </a:solidFill>
          <a:ln xmlns:a="http://schemas.openxmlformats.org/drawingml/2006/main" w="0">
            <a:solidFill>
              <a:srgbClr val="6A4BC3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A40903C-4815-426D-99F7-23186C34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33825"/>
            <a:ext cx="2819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4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4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Data Validation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D3EC1A-125D-447A-87E8-B770F615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855" b="0">
                <a:solidFill>
                  <a:srgbClr val="52677A"/>
                </a:solidFill>
                <a:latin typeface="Arial"/>
                <a:ea typeface="Arial"/>
                <a:cs typeface="Arial"/>
              </a:rPr>
              <a:t>Quality and completeness checks</a:t>
            </a:r>
          </a:p>
          <a:p xmlns:a="http://schemas.openxmlformats.org/drawingml/2006/main">
            <a:pPr algn="l">
              <a:defRPr sz="855" b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855" b="0">
                <a:solidFill>
                  <a:srgbClr val="52677A"/>
                </a:solidFill>
                <a:latin typeface="Arial"/>
                <a:ea typeface="Arial"/>
                <a:cs typeface="Arial"/>
              </a:rPr>
              <a:t>Exceptions and correction workflow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32B744D-B2D5-4BD7-9E60-D8936151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14900"/>
            <a:ext cx="3238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FDDEA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401A79C-59FC-43D6-BAEF-F1D71AB2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762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35B16"/>
          </a:solidFill>
          <a:ln xmlns:a="http://schemas.openxmlformats.org/drawingml/2006/main" w="0">
            <a:solidFill>
              <a:srgbClr val="C35B16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C948C09-19A2-4994-96A7-48C50025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2819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4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4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Report Generation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F0689E2-AA4B-4479-82DB-53A5CCB7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855" b="0">
                <a:solidFill>
                  <a:srgbClr val="52677A"/>
                </a:solidFill>
                <a:latin typeface="Arial"/>
                <a:ea typeface="Arial"/>
                <a:cs typeface="Arial"/>
              </a:rPr>
              <a:t>Standard and custom reports</a:t>
            </a:r>
          </a:p>
          <a:p xmlns:a="http://schemas.openxmlformats.org/drawingml/2006/main">
            <a:pPr algn="l">
              <a:defRPr sz="855" b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855" b="0">
                <a:solidFill>
                  <a:srgbClr val="52677A"/>
                </a:solidFill>
                <a:latin typeface="Arial"/>
                <a:ea typeface="Arial"/>
                <a:cs typeface="Arial"/>
              </a:rPr>
              <a:t>Export-ready charts and summaries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FC15B75-A551-4874-ACE8-2DB2FC91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81200"/>
            <a:ext cx="3238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FDDEA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D1BBA55-E180-4E6A-BB2C-60BD3C3C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14550"/>
            <a:ext cx="762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FA5"/>
          </a:solidFill>
          <a:ln xmlns:a="http://schemas.openxmlformats.org/drawingml/2006/main" w="0">
            <a:solidFill>
              <a:srgbClr val="0B5FA5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BD29775-3DA4-463E-A495-BCB92C5EA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66925"/>
            <a:ext cx="2819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4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4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Frequency Event Analysis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7D8AAC0-5450-42E0-B06C-5BE2E278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6220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855" b="0">
                <a:solidFill>
                  <a:srgbClr val="52677A"/>
                </a:solidFill>
                <a:latin typeface="Arial"/>
                <a:ea typeface="Arial"/>
                <a:cs typeface="Arial"/>
              </a:rPr>
              <a:t>Deviation trends and event timeline</a:t>
            </a:r>
          </a:p>
          <a:p xmlns:a="http://schemas.openxmlformats.org/drawingml/2006/main">
            <a:pPr algn="l">
              <a:defRPr sz="855" b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855" b="0">
                <a:solidFill>
                  <a:srgbClr val="52677A"/>
                </a:solidFill>
                <a:latin typeface="Arial"/>
                <a:ea typeface="Arial"/>
                <a:cs typeface="Arial"/>
              </a:rPr>
              <a:t>Alerts and disturbance review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B373A35-1A17-486C-AC60-8BC30DB6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314700"/>
            <a:ext cx="3238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FDDEA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5A22362-1BFF-42E6-B01D-A6083AF4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48050"/>
            <a:ext cx="762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D64"/>
          </a:solidFill>
          <a:ln xmlns:a="http://schemas.openxmlformats.org/drawingml/2006/main" w="0">
            <a:solidFill>
              <a:srgbClr val="147D64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84DBEE5-4612-495C-9F6A-1366B90B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400425"/>
            <a:ext cx="2819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4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4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Operational Dashboards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AE083E8-2903-4AD8-855E-7827B401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9570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855" b="0">
                <a:solidFill>
                  <a:srgbClr val="52677A"/>
                </a:solidFill>
                <a:latin typeface="Arial"/>
                <a:ea typeface="Arial"/>
                <a:cs typeface="Arial"/>
              </a:rPr>
              <a:t>PSP and national plots</a:t>
            </a:r>
          </a:p>
          <a:p xmlns:a="http://schemas.openxmlformats.org/drawingml/2006/main">
            <a:pPr algn="l">
              <a:defRPr sz="855" b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855" b="0">
                <a:solidFill>
                  <a:srgbClr val="52677A"/>
                </a:solidFill>
                <a:latin typeface="Arial"/>
                <a:ea typeface="Arial"/>
                <a:cs typeface="Arial"/>
              </a:rPr>
              <a:t>Schedule, generation and deviation views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3DB6BEE-FAFA-4003-8D97-B18E8703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648200"/>
            <a:ext cx="3238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FDDEA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2C5349B-8A86-4811-87C2-BDC3CB5C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81550"/>
            <a:ext cx="762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A4BC3"/>
          </a:solidFill>
          <a:ln xmlns:a="http://schemas.openxmlformats.org/drawingml/2006/main" w="0">
            <a:solidFill>
              <a:srgbClr val="6A4BC3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68092C6-FAA7-45D7-99F0-61C0ABAA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33925"/>
            <a:ext cx="2819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4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4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Document Repository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9AA3F7B-303F-4935-93A4-F4E46D56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02920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855" b="0">
                <a:solidFill>
                  <a:srgbClr val="52677A"/>
                </a:solidFill>
                <a:latin typeface="Arial"/>
                <a:ea typeface="Arial"/>
                <a:cs typeface="Arial"/>
              </a:rPr>
              <a:t>Meeting records and controlled files</a:t>
            </a:r>
          </a:p>
          <a:p xmlns:a="http://schemas.openxmlformats.org/drawingml/2006/main">
            <a:pPr algn="l">
              <a:defRPr sz="855" b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855" b="0">
                <a:solidFill>
                  <a:srgbClr val="52677A"/>
                </a:solidFill>
                <a:latin typeface="Arial"/>
                <a:ea typeface="Arial"/>
                <a:cs typeface="Arial"/>
              </a:rPr>
              <a:t>Search, retrieval and version tracking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1B185D5-271D-4AF1-AC59-4915BCAE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391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44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882"/>
          </a:bodyPr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Outcome: one operational view for faster coordination, consistent decisions and traceable reporting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6CF50A2-35B3-4243-8521-4EECDAE6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11391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447"/>
          </a:solidFill>
          <a:ln xmlns:a="http://schemas.openxmlformats.org/drawingml/2006/main" w="0">
            <a:solidFill>
              <a:srgbClr val="079447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343C8A9-0585-40DE-93E6-BE8F4A2F6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1163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508"/>
          </a:bodyPr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Outcome: one operational view for faster coordination, consistent decisions and traceable reporting</a:t>
            </a:r>
          </a:p>
        </p:txBody>
      </p:sp>
    </p:spTree>
    <p:extLst>
      <p:ext uri="{BB962C8B-B14F-4D97-AF65-F5344CB8AC3E}">
        <p14:creationId xmlns:p14="http://schemas.microsoft.com/office/powerpoint/2010/main" val="16482740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2026-09-22T11:56:51.1370000Z</dcterms:created>
  <dcterms:modified xsi:type="dcterms:W3CDTF">2026-09-22T11:56:51.1370000Z</dcterms:modified>
</coreProperties>
</file>